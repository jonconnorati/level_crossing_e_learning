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A0D790-6707-4E4E-8CA9-BFBA8B23A912}">
  <a:tblStyle styleId="{73A0D790-6707-4E4E-8CA9-BFBA8B23A9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6e9c2245c_0_1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6e9c2245c_0_1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Simple landing page the learner will see when they open the link. The [START] button is active as soon as the page loads.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4a2d376f60839484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4a2d376f60839484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lang="en-GB"/>
              <a:t>screen will load with the text then the steps will load one at a time. Once all steps are loaded the [Take Quiz] button will become active. Notice the Navigation in the top right will only have the [Home] button active. The Learner can’t go back or forward until they complete the 1st module. They can only go back to the landing page.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4a2d376f60839484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4a2d376f6083948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[Submit] button is inactive until the learner selects an option.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73bc83fd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73bc83fd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Once all the question options have been selected the [Submit] button becomes active.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73bc83fd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73bc83fd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After clicking [Submit] if enough options are correct the learner will be notified and the [Next] navigation will be available for them to select the next module. Each question will also receive feedback so that the learner can identify which questions were answered correctly/incorrectly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74e662c1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74e662c1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enough </a:t>
            </a:r>
            <a:r>
              <a:rPr lang="en-GB"/>
              <a:t>options are not answered correctly the learner will given the overall score and instruction to re-try. Individual question feedback will also be provided on any questions that were answered incorrectly.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74e662c1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74e662c1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Once the [Retry] button is selected the feedback is removed and all question options are de selected and the learner can </a:t>
            </a:r>
            <a:r>
              <a:rPr lang="en-GB"/>
              <a:t>retake</a:t>
            </a:r>
            <a:r>
              <a:rPr lang="en-GB"/>
              <a:t> the quiz. The learner can navigate back to the previous module using the back button.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7706a579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7706a579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0" y="0"/>
            <a:ext cx="9116100" cy="6765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55">
                <a:solidFill>
                  <a:srgbClr val="FFFFFF"/>
                </a:solidFill>
              </a:rPr>
              <a:t>Level Crossing E - Learning Course</a:t>
            </a:r>
            <a:r>
              <a:rPr lang="en-GB" sz="2355"/>
              <a:t> </a:t>
            </a:r>
            <a:r>
              <a:rPr lang="en-GB"/>
              <a:t>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4008325" y="3861125"/>
            <a:ext cx="1127358" cy="375786"/>
          </a:xfrm>
          <a:prstGeom prst="flowChartTerminator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START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7409100" y="0"/>
            <a:ext cx="17349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 txBox="1"/>
          <p:nvPr>
            <p:ph idx="4294967295" type="body"/>
          </p:nvPr>
        </p:nvSpPr>
        <p:spPr>
          <a:xfrm>
            <a:off x="456450" y="1036050"/>
            <a:ext cx="8231100" cy="1779000"/>
          </a:xfrm>
          <a:prstGeom prst="rect">
            <a:avLst/>
          </a:prstGeom>
          <a:solidFill>
            <a:srgbClr val="F9CB9C"/>
          </a:solidFill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This course is about some of the common scenarios an operator will face in their everyday work on the consoles.</a:t>
            </a:r>
            <a:endParaRPr sz="23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/>
              <a:t>To begin learning press the start button.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3950" y="4701900"/>
            <a:ext cx="9116100" cy="4416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</a:rPr>
              <a:t>Jon Connor 2026</a:t>
            </a:r>
            <a:r>
              <a:rPr lang="en-GB" sz="1800">
                <a:solidFill>
                  <a:srgbClr val="FFFFFF"/>
                </a:solidFill>
              </a:rPr>
              <a:t> 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0" y="0"/>
            <a:ext cx="9144000" cy="7296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</a:rPr>
              <a:t>Module 1 - Some scenario </a:t>
            </a:r>
            <a:r>
              <a:rPr lang="en-GB" sz="1400">
                <a:solidFill>
                  <a:schemeClr val="accent3"/>
                </a:solidFill>
              </a:rPr>
              <a:t>    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4008325" y="3861125"/>
            <a:ext cx="1127358" cy="375786"/>
          </a:xfrm>
          <a:prstGeom prst="flowChartTerminator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Take Quiz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7409100" y="0"/>
            <a:ext cx="17349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</a:rPr>
              <a:t>Back  </a:t>
            </a:r>
            <a:r>
              <a:rPr lang="en-GB">
                <a:solidFill>
                  <a:schemeClr val="lt1"/>
                </a:solidFill>
              </a:rPr>
              <a:t>Home </a:t>
            </a:r>
            <a:r>
              <a:rPr lang="en-GB">
                <a:solidFill>
                  <a:schemeClr val="accent3"/>
                </a:solidFill>
              </a:rPr>
              <a:t> Next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6" name="Google Shape;66;p14"/>
          <p:cNvSpPr txBox="1"/>
          <p:nvPr>
            <p:ph idx="4294967295" type="body"/>
          </p:nvPr>
        </p:nvSpPr>
        <p:spPr>
          <a:xfrm>
            <a:off x="217350" y="788800"/>
            <a:ext cx="8709300" cy="1058700"/>
          </a:xfrm>
          <a:prstGeom prst="rect">
            <a:avLst/>
          </a:prstGeom>
          <a:solidFill>
            <a:srgbClr val="F9CB9C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600">
                <a:solidFill>
                  <a:schemeClr val="dk1"/>
                </a:solidFill>
              </a:rPr>
              <a:t>Scenario description</a:t>
            </a:r>
            <a:endParaRPr b="1" sz="6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5500">
                <a:solidFill>
                  <a:schemeClr val="dk1"/>
                </a:solidFill>
              </a:rPr>
              <a:t>When this scenario occurs x, y, z will happen and you will carry out the following steps in this order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3500">
                <a:solidFill>
                  <a:schemeClr val="dk1"/>
                </a:solidFill>
              </a:rPr>
              <a:t>The graphic loads slowly across the page.</a:t>
            </a:r>
            <a:endParaRPr i="1" sz="3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3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3950" y="4701900"/>
            <a:ext cx="9116100" cy="4416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</a:rPr>
              <a:t>Jon Connor 2026</a:t>
            </a:r>
            <a:r>
              <a:rPr lang="en-GB" sz="1800">
                <a:solidFill>
                  <a:srgbClr val="FFFFFF"/>
                </a:solidFill>
              </a:rPr>
              <a:t> </a:t>
            </a:r>
            <a:endParaRPr sz="1800">
              <a:solidFill>
                <a:srgbClr val="FFFFFF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3963" y="1906600"/>
            <a:ext cx="5696085" cy="17088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13950" y="0"/>
            <a:ext cx="26478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Level Crossing E- Learning Course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0" y="0"/>
            <a:ext cx="9144000" cy="6696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55">
                <a:solidFill>
                  <a:srgbClr val="FFFFFF"/>
                </a:solidFill>
              </a:rPr>
              <a:t>Module 1 - Some scenario</a:t>
            </a:r>
            <a:r>
              <a:rPr lang="en-GB" sz="2355"/>
              <a:t> </a:t>
            </a:r>
            <a:r>
              <a:rPr lang="en-GB"/>
              <a:t>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4008325" y="4182875"/>
            <a:ext cx="1127358" cy="375786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</a:rPr>
              <a:t>Submit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7409100" y="0"/>
            <a:ext cx="17349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</a:rPr>
              <a:t>Back</a:t>
            </a:r>
            <a:r>
              <a:rPr lang="en-GB">
                <a:solidFill>
                  <a:schemeClr val="lt1"/>
                </a:solidFill>
              </a:rPr>
              <a:t>  Home  </a:t>
            </a:r>
            <a:r>
              <a:rPr lang="en-GB">
                <a:solidFill>
                  <a:schemeClr val="accent3"/>
                </a:solidFill>
              </a:rPr>
              <a:t>Next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77" name="Google Shape;77;p15"/>
          <p:cNvSpPr txBox="1"/>
          <p:nvPr>
            <p:ph idx="4294967295" type="body"/>
          </p:nvPr>
        </p:nvSpPr>
        <p:spPr>
          <a:xfrm>
            <a:off x="200850" y="811250"/>
            <a:ext cx="8742300" cy="907200"/>
          </a:xfrm>
          <a:prstGeom prst="rect">
            <a:avLst/>
          </a:prstGeom>
          <a:solidFill>
            <a:srgbClr val="F9CB9C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300">
                <a:solidFill>
                  <a:schemeClr val="dk1"/>
                </a:solidFill>
              </a:rPr>
              <a:t>Quiz - </a:t>
            </a:r>
            <a:r>
              <a:rPr lang="en-GB" sz="6300">
                <a:solidFill>
                  <a:schemeClr val="dk1"/>
                </a:solidFill>
              </a:rPr>
              <a:t>Question 1</a:t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6300">
                <a:solidFill>
                  <a:schemeClr val="dk1"/>
                </a:solidFill>
              </a:rPr>
              <a:t>What colour is the sky?</a:t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3950" y="4701900"/>
            <a:ext cx="9116100" cy="4416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</a:rPr>
              <a:t>Jon Connor 2026</a:t>
            </a:r>
            <a:r>
              <a:rPr lang="en-GB" sz="1800">
                <a:solidFill>
                  <a:srgbClr val="FFFFFF"/>
                </a:solidFill>
              </a:rPr>
              <a:t> 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3672350" y="1916225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4008325" y="1771500"/>
            <a:ext cx="1965000" cy="16005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Blue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Pink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672350" y="2476350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3672350" y="3036475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13950" y="0"/>
            <a:ext cx="26478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Level Crossing E- Learning Course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0" y="0"/>
            <a:ext cx="9144000" cy="6696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55">
                <a:solidFill>
                  <a:srgbClr val="FFFFFF"/>
                </a:solidFill>
              </a:rPr>
              <a:t>Module 1 - Some scenario</a:t>
            </a:r>
            <a:r>
              <a:rPr lang="en-GB" sz="2355"/>
              <a:t> </a:t>
            </a:r>
            <a:r>
              <a:rPr lang="en-GB"/>
              <a:t>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4008325" y="4182875"/>
            <a:ext cx="1127358" cy="375786"/>
          </a:xfrm>
          <a:prstGeom prst="flowChartTerminator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Submit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7409100" y="0"/>
            <a:ext cx="17349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</a:rPr>
              <a:t>Back</a:t>
            </a:r>
            <a:r>
              <a:rPr lang="en-GB">
                <a:solidFill>
                  <a:schemeClr val="lt1"/>
                </a:solidFill>
              </a:rPr>
              <a:t>  Home </a:t>
            </a:r>
            <a:r>
              <a:rPr lang="en-GB">
                <a:solidFill>
                  <a:schemeClr val="accent3"/>
                </a:solidFill>
              </a:rPr>
              <a:t> Next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91" name="Google Shape;91;p16"/>
          <p:cNvSpPr txBox="1"/>
          <p:nvPr>
            <p:ph idx="4294967295" type="body"/>
          </p:nvPr>
        </p:nvSpPr>
        <p:spPr>
          <a:xfrm>
            <a:off x="200850" y="811250"/>
            <a:ext cx="8742300" cy="907200"/>
          </a:xfrm>
          <a:prstGeom prst="rect">
            <a:avLst/>
          </a:prstGeom>
          <a:solidFill>
            <a:srgbClr val="F9CB9C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300">
                <a:solidFill>
                  <a:schemeClr val="dk1"/>
                </a:solidFill>
              </a:rPr>
              <a:t>Quiz - </a:t>
            </a:r>
            <a:r>
              <a:rPr lang="en-GB" sz="6300">
                <a:solidFill>
                  <a:schemeClr val="dk1"/>
                </a:solidFill>
              </a:rPr>
              <a:t>Question 1</a:t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6300">
                <a:solidFill>
                  <a:schemeClr val="dk1"/>
                </a:solidFill>
              </a:rPr>
              <a:t>What colour is the sky?</a:t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13950" y="4701900"/>
            <a:ext cx="9116100" cy="4416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</a:rPr>
              <a:t>Jon Connor 2026</a:t>
            </a:r>
            <a:r>
              <a:rPr lang="en-GB" sz="1800">
                <a:solidFill>
                  <a:srgbClr val="FFFFFF"/>
                </a:solidFill>
              </a:rPr>
              <a:t> 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3672350" y="1916225"/>
            <a:ext cx="213300" cy="1908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4008325" y="1771500"/>
            <a:ext cx="1965000" cy="16005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Blue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Pink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3672350" y="2476350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3672350" y="3036475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13950" y="0"/>
            <a:ext cx="26478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Level Crossing E- Learning Course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0" y="0"/>
            <a:ext cx="9144000" cy="6696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55">
                <a:solidFill>
                  <a:srgbClr val="FFFFFF"/>
                </a:solidFill>
              </a:rPr>
              <a:t>Module 1 - Some scenario</a:t>
            </a:r>
            <a:r>
              <a:rPr lang="en-GB" sz="2355"/>
              <a:t> </a:t>
            </a:r>
            <a:r>
              <a:rPr lang="en-GB"/>
              <a:t>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4008325" y="4182875"/>
            <a:ext cx="1127358" cy="375786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</a:rPr>
              <a:t>Submit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7409100" y="0"/>
            <a:ext cx="17349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</a:rPr>
              <a:t>Back</a:t>
            </a:r>
            <a:r>
              <a:rPr lang="en-GB">
                <a:solidFill>
                  <a:schemeClr val="lt1"/>
                </a:solidFill>
              </a:rPr>
              <a:t>  Home  Next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5" name="Google Shape;105;p17"/>
          <p:cNvSpPr txBox="1"/>
          <p:nvPr>
            <p:ph idx="4294967295" type="body"/>
          </p:nvPr>
        </p:nvSpPr>
        <p:spPr>
          <a:xfrm>
            <a:off x="290700" y="650600"/>
            <a:ext cx="7783800" cy="598200"/>
          </a:xfrm>
          <a:prstGeom prst="rect">
            <a:avLst/>
          </a:prstGeom>
          <a:solidFill>
            <a:srgbClr val="F9CB9C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500">
                <a:solidFill>
                  <a:schemeClr val="dk1"/>
                </a:solidFill>
              </a:rPr>
              <a:t>Quiz - </a:t>
            </a:r>
            <a:r>
              <a:rPr lang="en-GB" sz="5500">
                <a:solidFill>
                  <a:schemeClr val="dk1"/>
                </a:solidFill>
              </a:rPr>
              <a:t>Question 1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5500">
                <a:solidFill>
                  <a:schemeClr val="dk1"/>
                </a:solidFill>
              </a:rPr>
              <a:t>What colour is the sky?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13950" y="4701900"/>
            <a:ext cx="9116100" cy="4416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</a:rPr>
              <a:t>Jon Connor 2026</a:t>
            </a:r>
            <a:r>
              <a:rPr lang="en-GB" sz="1800">
                <a:solidFill>
                  <a:srgbClr val="FFFFFF"/>
                </a:solidFill>
              </a:rPr>
              <a:t> 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3672350" y="1472475"/>
            <a:ext cx="213300" cy="1908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4008325" y="1409450"/>
            <a:ext cx="1965000" cy="12195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Blue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Red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Pink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3672350" y="1923738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3672350" y="2375013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5278275" y="757250"/>
            <a:ext cx="2347200" cy="3849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B5394"/>
                </a:solidFill>
              </a:rPr>
              <a:t>Well done that is correct!</a:t>
            </a:r>
            <a:endParaRPr sz="1300">
              <a:solidFill>
                <a:srgbClr val="0B5394"/>
              </a:solidFill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404300" y="3412675"/>
            <a:ext cx="6064500" cy="5055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2"/>
              </a:solidFill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2268000" y="2764600"/>
            <a:ext cx="4608000" cy="12195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Congratulations </a:t>
            </a:r>
            <a:endParaRPr sz="1300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B5394"/>
                </a:solidFill>
              </a:rPr>
              <a:t>You</a:t>
            </a:r>
            <a:r>
              <a:rPr lang="en-GB" sz="1300">
                <a:solidFill>
                  <a:schemeClr val="dk2"/>
                </a:solidFill>
              </a:rPr>
              <a:t> scored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2"/>
                </a:solidFill>
              </a:rPr>
              <a:t>100%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You can go to the next module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13950" y="0"/>
            <a:ext cx="26478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Level Crossing E- Learning Course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0" y="0"/>
            <a:ext cx="9144000" cy="6696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55">
                <a:solidFill>
                  <a:srgbClr val="FFFFFF"/>
                </a:solidFill>
              </a:rPr>
              <a:t>Module 1 - Some scenario</a:t>
            </a:r>
            <a:r>
              <a:rPr lang="en-GB" sz="2355"/>
              <a:t> </a:t>
            </a:r>
            <a:r>
              <a:rPr lang="en-GB"/>
              <a:t>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4008325" y="4182875"/>
            <a:ext cx="1127358" cy="375786"/>
          </a:xfrm>
          <a:prstGeom prst="flowChartTerminator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Retry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7409100" y="0"/>
            <a:ext cx="17349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</a:rPr>
              <a:t>Back</a:t>
            </a:r>
            <a:r>
              <a:rPr lang="en-GB">
                <a:solidFill>
                  <a:schemeClr val="lt1"/>
                </a:solidFill>
              </a:rPr>
              <a:t>  Home  </a:t>
            </a:r>
            <a:r>
              <a:rPr lang="en-GB">
                <a:solidFill>
                  <a:schemeClr val="accent3"/>
                </a:solidFill>
              </a:rPr>
              <a:t>Next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2" name="Google Shape;122;p18"/>
          <p:cNvSpPr txBox="1"/>
          <p:nvPr>
            <p:ph idx="4294967295" type="body"/>
          </p:nvPr>
        </p:nvSpPr>
        <p:spPr>
          <a:xfrm>
            <a:off x="290700" y="650600"/>
            <a:ext cx="7783800" cy="598200"/>
          </a:xfrm>
          <a:prstGeom prst="rect">
            <a:avLst/>
          </a:prstGeom>
          <a:solidFill>
            <a:srgbClr val="F9CB9C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500">
                <a:solidFill>
                  <a:schemeClr val="dk1"/>
                </a:solidFill>
              </a:rPr>
              <a:t>Question 1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5500">
                <a:solidFill>
                  <a:schemeClr val="dk1"/>
                </a:solidFill>
              </a:rPr>
              <a:t>What colour is the sky?</a:t>
            </a:r>
            <a:endParaRPr sz="5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13950" y="4701900"/>
            <a:ext cx="9116100" cy="4416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</a:rPr>
              <a:t>Jon Connor 2026</a:t>
            </a:r>
            <a:r>
              <a:rPr lang="en-GB" sz="1800">
                <a:solidFill>
                  <a:srgbClr val="FFFFFF"/>
                </a:solidFill>
              </a:rPr>
              <a:t> 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3672350" y="1472475"/>
            <a:ext cx="213300" cy="1908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 txBox="1"/>
          <p:nvPr/>
        </p:nvSpPr>
        <p:spPr>
          <a:xfrm>
            <a:off x="4008325" y="1409450"/>
            <a:ext cx="1965000" cy="12195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Blue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Red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Pink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3672350" y="1923738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3672350" y="2375013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5278275" y="757250"/>
            <a:ext cx="3470100" cy="384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That’s not correct - Try looking up at the sky</a:t>
            </a:r>
            <a:r>
              <a:rPr lang="en-GB" sz="1300"/>
              <a:t>!</a:t>
            </a:r>
            <a:endParaRPr sz="1300"/>
          </a:p>
        </p:txBody>
      </p:sp>
      <p:sp>
        <p:nvSpPr>
          <p:cNvPr id="129" name="Google Shape;129;p18"/>
          <p:cNvSpPr txBox="1"/>
          <p:nvPr/>
        </p:nvSpPr>
        <p:spPr>
          <a:xfrm>
            <a:off x="404300" y="3412675"/>
            <a:ext cx="6064500" cy="5055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2"/>
              </a:solidFill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2268000" y="2764588"/>
            <a:ext cx="4608000" cy="1219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Unfortunately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You scored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0</a:t>
            </a:r>
            <a:r>
              <a:rPr b="1" lang="en-GB" sz="1600">
                <a:solidFill>
                  <a:schemeClr val="dk1"/>
                </a:solidFill>
              </a:rPr>
              <a:t> </a:t>
            </a:r>
            <a:r>
              <a:rPr b="1" lang="en-GB" sz="1600">
                <a:solidFill>
                  <a:schemeClr val="dk1"/>
                </a:solidFill>
              </a:rPr>
              <a:t>%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Select Retry to try again!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13950" y="0"/>
            <a:ext cx="26478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Level Crossing E- Learning Course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0" y="0"/>
            <a:ext cx="9144000" cy="6696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55">
                <a:solidFill>
                  <a:srgbClr val="FFFFFF"/>
                </a:solidFill>
              </a:rPr>
              <a:t>Module 2 - Some scenario</a:t>
            </a:r>
            <a:r>
              <a:rPr lang="en-GB" sz="2355"/>
              <a:t> </a:t>
            </a:r>
            <a:r>
              <a:rPr lang="en-GB"/>
              <a:t>  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4008325" y="4182875"/>
            <a:ext cx="1127358" cy="375786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</a:rPr>
              <a:t>Submit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7409100" y="0"/>
            <a:ext cx="1734900" cy="311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Back  Home  </a:t>
            </a:r>
            <a:r>
              <a:rPr lang="en-GB">
                <a:solidFill>
                  <a:schemeClr val="accent3"/>
                </a:solidFill>
              </a:rPr>
              <a:t>Next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39" name="Google Shape;139;p19"/>
          <p:cNvSpPr txBox="1"/>
          <p:nvPr>
            <p:ph idx="4294967295" type="body"/>
          </p:nvPr>
        </p:nvSpPr>
        <p:spPr>
          <a:xfrm>
            <a:off x="200850" y="811250"/>
            <a:ext cx="8742300" cy="907200"/>
          </a:xfrm>
          <a:prstGeom prst="rect">
            <a:avLst/>
          </a:prstGeom>
          <a:solidFill>
            <a:srgbClr val="F9CB9C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300">
                <a:solidFill>
                  <a:schemeClr val="dk1"/>
                </a:solidFill>
              </a:rPr>
              <a:t>Question 1</a:t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6300">
                <a:solidFill>
                  <a:schemeClr val="dk1"/>
                </a:solidFill>
              </a:rPr>
              <a:t>What colour is the sky?</a:t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13950" y="4701900"/>
            <a:ext cx="9116100" cy="4416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</a:rPr>
              <a:t>Jon Connor 2026</a:t>
            </a:r>
            <a:r>
              <a:rPr lang="en-GB" sz="1800">
                <a:solidFill>
                  <a:srgbClr val="FFFFFF"/>
                </a:solidFill>
              </a:rPr>
              <a:t> 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3672350" y="1916225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4008325" y="1771500"/>
            <a:ext cx="1965000" cy="16005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Blue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Pink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3672350" y="2476350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3672350" y="3036475"/>
            <a:ext cx="213300" cy="190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/>
        </p:nvSpPr>
        <p:spPr>
          <a:xfrm>
            <a:off x="311700" y="1388525"/>
            <a:ext cx="852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graphicFrame>
        <p:nvGraphicFramePr>
          <p:cNvPr id="150" name="Google Shape;150;p20"/>
          <p:cNvGraphicFramePr/>
          <p:nvPr/>
        </p:nvGraphicFramePr>
        <p:xfrm>
          <a:off x="952500" y="91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{73A0D790-6707-4E4E-8CA9-BFBA8B23A912}</a:tableStyleId>
              </a:tblPr>
              <a:tblGrid>
                <a:gridCol w="3619500"/>
                <a:gridCol w="3619500"/>
              </a:tblGrid>
              <a:tr h="350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General: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Background-color: Orange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 Family: serif, arial, tahoma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 size: 12px (</a:t>
                      </a:r>
                      <a:r>
                        <a:rPr i="1" lang="en-GB" sz="1100">
                          <a:solidFill>
                            <a:schemeClr val="dk1"/>
                          </a:solidFill>
                        </a:rPr>
                        <a:t>1rem = 12px)</a:t>
                      </a:r>
                      <a:endParaRPr i="1"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 color - Black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Header and footer: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Background-color: Dark Blue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 size: varied based on rem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 color: white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Navigation links: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Text decoration: None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 size: 1.5rem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 color: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○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Active: white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○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Inactive: grey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Buttons: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Font-size: 2rem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Buttons - active: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Background-color: Dark Blue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Font-color: white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Buttons - inactive: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Background-color: white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Font-color: Light Grey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Question Feedback &amp; Quiz Feedback</a:t>
                      </a: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: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 size: 2rem</a:t>
                      </a:r>
                      <a:endParaRPr i="1"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Question Feedback &amp; Quiz Feedback - Correct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Background-color: yellow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Font-color: black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Question Feedback &amp; Quiz Feedback - Incorrect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Background-color: red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Font-color: black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1" name="Google Shape;151;p20"/>
          <p:cNvSpPr txBox="1"/>
          <p:nvPr>
            <p:ph type="title"/>
          </p:nvPr>
        </p:nvSpPr>
        <p:spPr>
          <a:xfrm>
            <a:off x="0" y="0"/>
            <a:ext cx="9144000" cy="6696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55">
                <a:solidFill>
                  <a:srgbClr val="FFFFFF"/>
                </a:solidFill>
              </a:rPr>
              <a:t>Design Details</a:t>
            </a:r>
            <a:r>
              <a:rPr lang="en-GB"/>
              <a:t> </a:t>
            </a:r>
            <a:endParaRPr/>
          </a:p>
        </p:txBody>
      </p:sp>
      <p:sp>
        <p:nvSpPr>
          <p:cNvPr id="152" name="Google Shape;152;p20"/>
          <p:cNvSpPr txBox="1"/>
          <p:nvPr/>
        </p:nvSpPr>
        <p:spPr>
          <a:xfrm>
            <a:off x="13950" y="4701900"/>
            <a:ext cx="9116100" cy="4416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</a:rPr>
              <a:t>Jon Connor 2026</a:t>
            </a:r>
            <a:r>
              <a:rPr lang="en-GB" sz="1800">
                <a:solidFill>
                  <a:srgbClr val="FFFFFF"/>
                </a:solidFill>
              </a:rPr>
              <a:t> 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