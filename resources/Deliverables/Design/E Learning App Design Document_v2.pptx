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C6339C-EA80-4B88-A56D-7212D552D0DF}">
  <a:tblStyle styleId="{2EC6339C-EA80-4B88-A56D-7212D552D0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e9c2245c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e9c2245c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landing page the learner will see when they open the link. The [START] button is active as soon as the page loads.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a2d376f6083948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a2d376f6083948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screen will load with the text then the steps will load one at a time. Once all steps are loaded the [Take Quiz] button will become active. Notice the Navigation in the top right will only have the [Home] button active. The Learner can’t go back or forward until they complete the 1st module. They can only go back to the landing page.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a2d376f6083948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a2d376f6083948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[Submit] button is inactive until the learner selects an option.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73bc83fd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73bc83fd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all the question options have been selected the [Submit] button becomes active.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3bc83fd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73bc83fd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clicking [Submit] if enough options are correct the learner will be notified and the [Next] navigation will be available for them to select the next module. Each question will also receive feedback so that the learner can identify which questions were answered correctly/incorrectly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74e662c1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74e662c1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enough </a:t>
            </a:r>
            <a:r>
              <a:rPr lang="en-GB"/>
              <a:t>options are not answered correctly the learner will given the overall score and instruction to re-try. Individual question feedback will also be provided on any questions that were answered incorrectly.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74e662c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74e662c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the [Retry] button is selected the feedback is removed and all question options are de selected and the learner can </a:t>
            </a:r>
            <a:r>
              <a:rPr lang="en-GB"/>
              <a:t>retake</a:t>
            </a:r>
            <a:r>
              <a:rPr lang="en-GB"/>
              <a:t> the quiz. The learner can navigate back to the previous module using the back button.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706a57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706a57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0"/>
            <a:ext cx="9116100" cy="676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Level Crossing E - Learning Course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008325" y="386112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START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4294967295" type="body"/>
          </p:nvPr>
        </p:nvSpPr>
        <p:spPr>
          <a:xfrm>
            <a:off x="456450" y="1036050"/>
            <a:ext cx="8231100" cy="17790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This course is about some of the common scenarios an operator will face in their everyday work on the consoles.</a:t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To begin learning press the start button.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9144000" cy="72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</a:rPr>
              <a:t>Module 1 - Some scenario </a:t>
            </a:r>
            <a:r>
              <a:rPr lang="en-GB" sz="1400">
                <a:solidFill>
                  <a:schemeClr val="accent3"/>
                </a:solidFill>
              </a:rPr>
              <a:t>    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008325" y="386112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Take Quiz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  </a:t>
            </a:r>
            <a:r>
              <a:rPr lang="en-GB">
                <a:solidFill>
                  <a:schemeClr val="lt1"/>
                </a:solidFill>
              </a:rPr>
              <a:t>Home </a:t>
            </a:r>
            <a:r>
              <a:rPr lang="en-GB">
                <a:solidFill>
                  <a:schemeClr val="accent3"/>
                </a:solidFill>
              </a:rPr>
              <a:t> 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6" name="Google Shape;66;p14"/>
          <p:cNvSpPr txBox="1"/>
          <p:nvPr>
            <p:ph idx="4294967295" type="body"/>
          </p:nvPr>
        </p:nvSpPr>
        <p:spPr>
          <a:xfrm>
            <a:off x="217350" y="788800"/>
            <a:ext cx="8709300" cy="10587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600">
                <a:solidFill>
                  <a:schemeClr val="dk1"/>
                </a:solidFill>
              </a:rPr>
              <a:t>Scenario description</a:t>
            </a:r>
            <a:endParaRPr b="1" sz="6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When this scenario occurs x, y, z will happen and you will carry out the following steps in this order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3500">
                <a:solidFill>
                  <a:schemeClr val="dk1"/>
                </a:solidFill>
              </a:rPr>
              <a:t>The graphic loads slowly across the page.</a:t>
            </a:r>
            <a:endParaRPr i="1"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3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963" y="1906600"/>
            <a:ext cx="5696085" cy="170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Quiz - </a:t>
            </a: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</a:t>
            </a:r>
            <a:r>
              <a:rPr lang="en-GB">
                <a:solidFill>
                  <a:schemeClr val="accent3"/>
                </a:solidFill>
              </a:rPr>
              <a:t> 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1" name="Google Shape;91;p16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Quiz - </a:t>
            </a: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Next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>
            <p:ph idx="4294967295" type="body"/>
          </p:nvPr>
        </p:nvSpPr>
        <p:spPr>
          <a:xfrm>
            <a:off x="290700" y="650600"/>
            <a:ext cx="7783800" cy="598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Quiz - </a:t>
            </a:r>
            <a:r>
              <a:rPr lang="en-GB" sz="5500">
                <a:solidFill>
                  <a:schemeClr val="dk1"/>
                </a:solidFill>
              </a:rPr>
              <a:t>Question 1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What colour is the sky?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672350" y="147247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008325" y="1409450"/>
            <a:ext cx="1965000" cy="1219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Blue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Red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672350" y="1923738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672350" y="2375013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278275" y="757250"/>
            <a:ext cx="2347200" cy="384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B5394"/>
                </a:solidFill>
              </a:rPr>
              <a:t>Well done that is correct!</a:t>
            </a:r>
            <a:endParaRPr sz="1300">
              <a:solidFill>
                <a:srgbClr val="0B5394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04300" y="3412675"/>
            <a:ext cx="6064500" cy="505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2268000" y="2764600"/>
            <a:ext cx="4608000" cy="1219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Congratulations </a:t>
            </a:r>
            <a:endParaRPr sz="13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B5394"/>
                </a:solidFill>
              </a:rPr>
              <a:t>You</a:t>
            </a:r>
            <a:r>
              <a:rPr lang="en-GB" sz="1300">
                <a:solidFill>
                  <a:schemeClr val="dk2"/>
                </a:solidFill>
              </a:rPr>
              <a:t> scored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</a:rPr>
              <a:t>100%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You can go to the next module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Retry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290700" y="650600"/>
            <a:ext cx="7783800" cy="598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Question 1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What colour is the sky?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672350" y="147247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4008325" y="1409450"/>
            <a:ext cx="1965000" cy="1219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Blue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Red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672350" y="1923738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672350" y="2375013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5278275" y="757250"/>
            <a:ext cx="3470100" cy="38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That’s not correct - Try looking up at the sky</a:t>
            </a:r>
            <a:r>
              <a:rPr lang="en-GB" sz="1300"/>
              <a:t>!</a:t>
            </a:r>
            <a:endParaRPr sz="1300"/>
          </a:p>
        </p:txBody>
      </p:sp>
      <p:sp>
        <p:nvSpPr>
          <p:cNvPr id="129" name="Google Shape;129;p18"/>
          <p:cNvSpPr txBox="1"/>
          <p:nvPr/>
        </p:nvSpPr>
        <p:spPr>
          <a:xfrm>
            <a:off x="404300" y="3412675"/>
            <a:ext cx="6064500" cy="505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268000" y="2764588"/>
            <a:ext cx="4608000" cy="1219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Unfortunately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You scored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0</a:t>
            </a:r>
            <a:r>
              <a:rPr b="1" lang="en-GB" sz="1600">
                <a:solidFill>
                  <a:schemeClr val="dk1"/>
                </a:solidFill>
              </a:rPr>
              <a:t> </a:t>
            </a:r>
            <a:r>
              <a:rPr b="1" lang="en-GB" sz="1600">
                <a:solidFill>
                  <a:schemeClr val="dk1"/>
                </a:solidFill>
              </a:rPr>
              <a:t>%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Select Retry to try again!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2 -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Back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311700" y="1388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50" name="Google Shape;150;p20"/>
          <p:cNvGraphicFramePr/>
          <p:nvPr/>
        </p:nvGraphicFramePr>
        <p:xfrm>
          <a:off x="952500" y="9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{2EC6339C-EA80-4B88-A56D-7212D552D0DF}</a:tableStyleId>
              </a:tblPr>
              <a:tblGrid>
                <a:gridCol w="3619500"/>
                <a:gridCol w="3619500"/>
              </a:tblGrid>
              <a:tr h="35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General: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Orange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Family: </a:t>
                      </a: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sans-serif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, arial, tahoma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12px (</a:t>
                      </a:r>
                      <a:r>
                        <a:rPr i="1" lang="en-GB" sz="1100">
                          <a:solidFill>
                            <a:schemeClr val="dk1"/>
                          </a:solidFill>
                        </a:rPr>
                        <a:t>1rem = 12px)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 -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Header and footer: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Dark Blue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varied based on rem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Navigation links: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Text decoration: None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</a:t>
                      </a: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1.2rem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○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Active: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○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Inactive: grey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Font-size: 1.5rem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 - active: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Dark Blue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white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 - inactive: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Light Grey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2rem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 - Correct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yellow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 - Incorrect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red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0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Design Details</a:t>
            </a:r>
            <a:r>
              <a:rPr lang="en-GB"/>
              <a:t> 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